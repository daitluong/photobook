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257" r:id="rId6"/>
    <p:sldId id="258" r:id="rId7"/>
    <p:sldId id="286" r:id="rId8"/>
    <p:sldId id="261" r:id="rId9"/>
    <p:sldId id="288" r:id="rId10"/>
    <p:sldId id="289" r:id="rId11"/>
    <p:sldId id="287" r:id="rId12"/>
    <p:sldId id="260" r:id="rId13"/>
    <p:sldId id="262" r:id="rId14"/>
    <p:sldId id="283" r:id="rId15"/>
    <p:sldId id="264" r:id="rId16"/>
    <p:sldId id="266" r:id="rId17"/>
    <p:sldId id="284" r:id="rId18"/>
    <p:sldId id="267" r:id="rId19"/>
    <p:sldId id="269" r:id="rId20"/>
    <p:sldId id="268"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77" y="44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12/13/2025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7" y="2395728"/>
            <a:ext cx="8222601" cy="1243584"/>
          </a:xfrm>
        </p:spPr>
        <p:txBody>
          <a:bodyPr/>
          <a:lstStyle/>
          <a:p>
            <a:r>
              <a:rPr lang="en-US" dirty="0"/>
              <a:t>Photobook Project</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Migration to .NET Core 8.0 </a:t>
            </a:r>
          </a:p>
        </p:txBody>
      </p:sp>
      <p:sp>
        <p:nvSpPr>
          <p:cNvPr id="4" name="Title 6">
            <a:extLst>
              <a:ext uri="{FF2B5EF4-FFF2-40B4-BE49-F238E27FC236}">
                <a16:creationId xmlns:a16="http://schemas.microsoft.com/office/drawing/2014/main" id="{996440C2-EAE8-639F-B674-3932CB420384}"/>
              </a:ext>
            </a:extLst>
          </p:cNvPr>
          <p:cNvSpPr txBox="1">
            <a:spLocks/>
          </p:cNvSpPr>
          <p:nvPr/>
        </p:nvSpPr>
        <p:spPr>
          <a:xfrm>
            <a:off x="2761487" y="5622925"/>
            <a:ext cx="11214100" cy="5355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GB" sz="6600" b="1" kern="1200" dirty="0">
                <a:solidFill>
                  <a:schemeClr val="accent2"/>
                </a:solidFill>
                <a:latin typeface="+mj-lt"/>
                <a:ea typeface="Tahoma" panose="020B0604030504040204" pitchFamily="34" charset="0"/>
                <a:cs typeface="Tahoma" panose="020B0604030504040204" pitchFamily="34" charset="0"/>
              </a:defRPr>
            </a:lvl1pPr>
          </a:lstStyle>
          <a:p>
            <a:r>
              <a:rPr lang="en-US" sz="2400" dirty="0">
                <a:solidFill>
                  <a:schemeClr val="bg1"/>
                </a:solidFill>
              </a:rPr>
              <a:t>Containerized | Scalable | Production-Ready</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31850" y="1571978"/>
            <a:ext cx="7781544" cy="859055"/>
          </a:xfrm>
        </p:spPr>
        <p:txBody>
          <a:bodyPr/>
          <a:lstStyle/>
          <a:p>
            <a:r>
              <a:rPr lang="en-US" dirty="0"/>
              <a:t>Agenda</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1068917" y="2666436"/>
            <a:ext cx="11213394" cy="365760"/>
          </a:xfrm>
        </p:spPr>
        <p:txBody>
          <a:bodyPr>
            <a:noAutofit/>
          </a:bodyPr>
          <a:lstStyle/>
          <a:p>
            <a:pPr marL="457200" indent="-457200">
              <a:lnSpc>
                <a:spcPct val="150000"/>
              </a:lnSpc>
              <a:buFont typeface="+mj-lt"/>
              <a:buAutoNum type="arabicPeriod"/>
            </a:pPr>
            <a:r>
              <a:rPr lang="en-US" sz="2400" dirty="0"/>
              <a:t>Background &amp; Migration Context  </a:t>
            </a:r>
          </a:p>
          <a:p>
            <a:pPr>
              <a:lnSpc>
                <a:spcPct val="150000"/>
              </a:lnSpc>
            </a:pPr>
            <a:r>
              <a:rPr lang="en-US" sz="2400" dirty="0">
                <a:solidFill>
                  <a:schemeClr val="bg1"/>
                </a:solidFill>
              </a:rPr>
              <a:t>      </a:t>
            </a:r>
            <a:r>
              <a:rPr lang="en-US" dirty="0">
                <a:solidFill>
                  <a:schemeClr val="bg1"/>
                </a:solidFill>
              </a:rPr>
              <a:t>Why we moved to .NET Framework 4.8 .NET Core 8.0 </a:t>
            </a:r>
          </a:p>
          <a:p>
            <a:pPr>
              <a:lnSpc>
                <a:spcPct val="150000"/>
              </a:lnSpc>
            </a:pPr>
            <a:r>
              <a:rPr lang="en-US" sz="2400" dirty="0"/>
              <a:t>2. Project Overview &amp; Architecture </a:t>
            </a:r>
          </a:p>
          <a:p>
            <a:pPr lvl="1" indent="0">
              <a:lnSpc>
                <a:spcPct val="150000"/>
              </a:lnSpc>
              <a:buNone/>
            </a:pPr>
            <a:r>
              <a:rPr lang="en-US" sz="1600" dirty="0">
                <a:solidFill>
                  <a:schemeClr val="bg1"/>
                </a:solidFill>
              </a:rPr>
              <a:t>Current implementation and technical stack </a:t>
            </a:r>
          </a:p>
          <a:p>
            <a:pPr>
              <a:lnSpc>
                <a:spcPct val="150000"/>
              </a:lnSpc>
            </a:pPr>
            <a:r>
              <a:rPr lang="en-US" sz="2400" dirty="0"/>
              <a:t>3. Next Steps &amp; Production Deployment  </a:t>
            </a:r>
          </a:p>
          <a:p>
            <a:pPr lvl="1" indent="0">
              <a:lnSpc>
                <a:spcPct val="150000"/>
              </a:lnSpc>
              <a:buNone/>
            </a:pPr>
            <a:r>
              <a:rPr lang="en-US" sz="1600" dirty="0">
                <a:solidFill>
                  <a:schemeClr val="bg1"/>
                </a:solidFill>
              </a:rPr>
              <a:t>Two deployment options: VM/IIS vs Kubernetes/Gitlab CI/CD </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Why Migrate to .NET Core 8.0?</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317870"/>
            <a:ext cx="5199944" cy="3003059"/>
          </a:xfrm>
        </p:spPr>
        <p:txBody>
          <a:bodyPr/>
          <a:lstStyle/>
          <a:p>
            <a:r>
              <a:rPr lang="en-US" sz="2400" b="1" dirty="0"/>
              <a:t>Technical Limitations</a:t>
            </a:r>
          </a:p>
          <a:p>
            <a:pPr lvl="1"/>
            <a:r>
              <a:rPr lang="en-US" sz="1800" dirty="0"/>
              <a:t>Windows-only deployment</a:t>
            </a:r>
          </a:p>
          <a:p>
            <a:pPr lvl="1"/>
            <a:r>
              <a:rPr lang="en-US" sz="1800" dirty="0"/>
              <a:t>Limited containerization support</a:t>
            </a:r>
          </a:p>
          <a:p>
            <a:pPr lvl="1"/>
            <a:r>
              <a:rPr lang="en-US" sz="1800" dirty="0"/>
              <a:t>Older runtime performance</a:t>
            </a:r>
          </a:p>
          <a:p>
            <a:pPr lvl="1"/>
            <a:r>
              <a:rPr lang="en-US" sz="1800" dirty="0"/>
              <a:t>No modern UI framework</a:t>
            </a:r>
          </a:p>
          <a:p>
            <a:pPr lvl="1"/>
            <a:r>
              <a:rPr lang="en-US" sz="1800" dirty="0"/>
              <a:t>Difficult to scale horizontally</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 Placeholder 9">
            <a:extLst>
              <a:ext uri="{FF2B5EF4-FFF2-40B4-BE49-F238E27FC236}">
                <a16:creationId xmlns:a16="http://schemas.microsoft.com/office/drawing/2014/main" id="{B4F5F6A2-5F2B-0748-C354-9A66BA41043F}"/>
              </a:ext>
            </a:extLst>
          </p:cNvPr>
          <p:cNvSpPr txBox="1">
            <a:spLocks/>
          </p:cNvSpPr>
          <p:nvPr/>
        </p:nvSpPr>
        <p:spPr>
          <a:xfrm>
            <a:off x="6255456" y="131787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.NET Core 8.0 Benefits</a:t>
            </a:r>
          </a:p>
          <a:p>
            <a:pPr lvl="1"/>
            <a:r>
              <a:rPr lang="en-US" dirty="0"/>
              <a:t>Cross-platform (Linux, Windows, macOS)</a:t>
            </a:r>
          </a:p>
          <a:p>
            <a:pPr lvl="1"/>
            <a:r>
              <a:rPr lang="en-US" dirty="0"/>
              <a:t>Native Docker/Kubernetes support</a:t>
            </a:r>
          </a:p>
          <a:p>
            <a:pPr lvl="1"/>
            <a:r>
              <a:rPr lang="en-US" dirty="0"/>
              <a:t>Superior performance</a:t>
            </a:r>
          </a:p>
          <a:p>
            <a:pPr lvl="1"/>
            <a:r>
              <a:rPr lang="en-US" dirty="0"/>
              <a:t>Modern framework ecosystem</a:t>
            </a:r>
          </a:p>
          <a:p>
            <a:pPr lvl="1"/>
            <a:r>
              <a:rPr lang="en-US" dirty="0"/>
              <a:t>Cloud-native architecture</a:t>
            </a:r>
          </a:p>
          <a:p>
            <a:pPr marL="457200" lvl="1" indent="0">
              <a:buNone/>
            </a:pPr>
            <a:endParaRPr lang="en-US" sz="1800" dirty="0"/>
          </a:p>
        </p:txBody>
      </p:sp>
      <p:sp>
        <p:nvSpPr>
          <p:cNvPr id="4" name="Text Placeholder 9">
            <a:extLst>
              <a:ext uri="{FF2B5EF4-FFF2-40B4-BE49-F238E27FC236}">
                <a16:creationId xmlns:a16="http://schemas.microsoft.com/office/drawing/2014/main" id="{B39F1DDD-118D-5CA1-0E2A-B7366651EB7B}"/>
              </a:ext>
            </a:extLst>
          </p:cNvPr>
          <p:cNvSpPr txBox="1">
            <a:spLocks/>
          </p:cNvSpPr>
          <p:nvPr/>
        </p:nvSpPr>
        <p:spPr>
          <a:xfrm>
            <a:off x="348545" y="403860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Security &amp; Support</a:t>
            </a:r>
          </a:p>
          <a:p>
            <a:pPr lvl="1"/>
            <a:r>
              <a:rPr lang="en-US" dirty="0"/>
              <a:t>.NET Framework in maintenance mode</a:t>
            </a:r>
          </a:p>
          <a:p>
            <a:pPr lvl="1"/>
            <a:r>
              <a:rPr lang="en-US" dirty="0"/>
              <a:t>Limited security updates</a:t>
            </a:r>
          </a:p>
          <a:p>
            <a:pPr lvl="1"/>
            <a:r>
              <a:rPr lang="en-US" dirty="0"/>
              <a:t>Legacy dependencies</a:t>
            </a:r>
          </a:p>
        </p:txBody>
      </p:sp>
      <p:sp>
        <p:nvSpPr>
          <p:cNvPr id="5" name="Text Placeholder 9">
            <a:extLst>
              <a:ext uri="{FF2B5EF4-FFF2-40B4-BE49-F238E27FC236}">
                <a16:creationId xmlns:a16="http://schemas.microsoft.com/office/drawing/2014/main" id="{ED208019-E9C4-13F1-050E-A4A2466BE740}"/>
              </a:ext>
            </a:extLst>
          </p:cNvPr>
          <p:cNvSpPr txBox="1">
            <a:spLocks/>
          </p:cNvSpPr>
          <p:nvPr/>
        </p:nvSpPr>
        <p:spPr>
          <a:xfrm>
            <a:off x="6255456" y="403860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Business Value</a:t>
            </a:r>
          </a:p>
          <a:p>
            <a:pPr lvl="1"/>
            <a:r>
              <a:rPr lang="en-US" dirty="0"/>
              <a:t>Deploy beyond HIGH environment</a:t>
            </a:r>
          </a:p>
          <a:p>
            <a:pPr lvl="1"/>
            <a:r>
              <a:rPr lang="en-US" dirty="0"/>
              <a:t>Reduced infrastructure costs</a:t>
            </a:r>
          </a:p>
          <a:p>
            <a:pPr lvl="1"/>
            <a:r>
              <a:rPr lang="en-US" dirty="0"/>
              <a:t>Faster deployment cycles</a:t>
            </a:r>
          </a:p>
          <a:p>
            <a:pPr lvl="1"/>
            <a:r>
              <a:rPr lang="en-US" dirty="0"/>
              <a:t>Better developer experience</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5501-BD0A-6BB2-F9B1-0DA76EA87DB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05E7EB-E5F0-B10A-00E5-44E2F2490C15}"/>
              </a:ext>
            </a:extLst>
          </p:cNvPr>
          <p:cNvSpPr>
            <a:spLocks noGrp="1"/>
          </p:cNvSpPr>
          <p:nvPr>
            <p:ph type="title"/>
          </p:nvPr>
        </p:nvSpPr>
        <p:spPr/>
        <p:txBody>
          <a:bodyPr/>
          <a:lstStyle/>
          <a:p>
            <a:r>
              <a:rPr lang="en-US" dirty="0"/>
              <a:t>Why Migrate to .NET Core 8.0?</a:t>
            </a:r>
          </a:p>
        </p:txBody>
      </p:sp>
      <p:sp>
        <p:nvSpPr>
          <p:cNvPr id="2" name="Slide Number Placeholder 1">
            <a:extLst>
              <a:ext uri="{FF2B5EF4-FFF2-40B4-BE49-F238E27FC236}">
                <a16:creationId xmlns:a16="http://schemas.microsoft.com/office/drawing/2014/main" id="{674563F3-6785-E676-3DCE-EFF6CAFFCEB8}"/>
              </a:ext>
            </a:extLst>
          </p:cNvPr>
          <p:cNvSpPr>
            <a:spLocks noGrp="1"/>
          </p:cNvSpPr>
          <p:nvPr>
            <p:ph type="sldNum" sz="quarter" idx="12"/>
          </p:nvPr>
        </p:nvSpPr>
        <p:spPr/>
        <p:txBody>
          <a:bodyPr/>
          <a:lstStyle/>
          <a:p>
            <a:fld id="{C263D6C4-4840-40CC-AC84-17E24B3B7BDE}" type="slidenum">
              <a:rPr lang="en-US" smtClean="0"/>
              <a:pPr/>
              <a:t>4</a:t>
            </a:fld>
            <a:endParaRPr lang="en-US" dirty="0"/>
          </a:p>
        </p:txBody>
      </p:sp>
      <p:graphicFrame>
        <p:nvGraphicFramePr>
          <p:cNvPr id="9" name="Table 8">
            <a:extLst>
              <a:ext uri="{FF2B5EF4-FFF2-40B4-BE49-F238E27FC236}">
                <a16:creationId xmlns:a16="http://schemas.microsoft.com/office/drawing/2014/main" id="{659CF4A6-90F9-F2DA-70BC-8BC27CB1D3C0}"/>
              </a:ext>
            </a:extLst>
          </p:cNvPr>
          <p:cNvGraphicFramePr>
            <a:graphicFrameLocks noGrp="1"/>
          </p:cNvGraphicFramePr>
          <p:nvPr>
            <p:extLst>
              <p:ext uri="{D42A27DB-BD31-4B8C-83A1-F6EECF244321}">
                <p14:modId xmlns:p14="http://schemas.microsoft.com/office/powerpoint/2010/main" val="1914713921"/>
              </p:ext>
            </p:extLst>
          </p:nvPr>
        </p:nvGraphicFramePr>
        <p:xfrm>
          <a:off x="191911" y="1078456"/>
          <a:ext cx="11808177" cy="5601742"/>
        </p:xfrm>
        <a:graphic>
          <a:graphicData uri="http://schemas.openxmlformats.org/drawingml/2006/table">
            <a:tbl>
              <a:tblPr/>
              <a:tblGrid>
                <a:gridCol w="3936059">
                  <a:extLst>
                    <a:ext uri="{9D8B030D-6E8A-4147-A177-3AD203B41FA5}">
                      <a16:colId xmlns:a16="http://schemas.microsoft.com/office/drawing/2014/main" val="3290243806"/>
                    </a:ext>
                  </a:extLst>
                </a:gridCol>
                <a:gridCol w="3936059">
                  <a:extLst>
                    <a:ext uri="{9D8B030D-6E8A-4147-A177-3AD203B41FA5}">
                      <a16:colId xmlns:a16="http://schemas.microsoft.com/office/drawing/2014/main" val="4108775870"/>
                    </a:ext>
                  </a:extLst>
                </a:gridCol>
                <a:gridCol w="3936059">
                  <a:extLst>
                    <a:ext uri="{9D8B030D-6E8A-4147-A177-3AD203B41FA5}">
                      <a16:colId xmlns:a16="http://schemas.microsoft.com/office/drawing/2014/main" val="3364717021"/>
                    </a:ext>
                  </a:extLst>
                </a:gridCol>
              </a:tblGrid>
              <a:tr h="766989">
                <a:tc>
                  <a:txBody>
                    <a:bodyPr/>
                    <a:lstStyle/>
                    <a:p>
                      <a:pPr algn="l">
                        <a:buNone/>
                      </a:pPr>
                      <a:r>
                        <a:rPr lang="en-US" sz="1400">
                          <a:solidFill>
                            <a:srgbClr val="FFFFFF"/>
                          </a:solidFill>
                          <a:effectLst/>
                        </a:rPr>
                        <a:t>Aspect</a:t>
                      </a:r>
                    </a:p>
                  </a:txBody>
                  <a:tcPr marL="87729" marR="87729" marT="87729" marB="87729" anchor="ctr">
                    <a:lnL>
                      <a:noFill/>
                    </a:lnL>
                    <a:lnR>
                      <a:noFill/>
                    </a:lnR>
                    <a:lnT>
                      <a:noFill/>
                    </a:lnT>
                    <a:lnB>
                      <a:noFill/>
                    </a:lnB>
                    <a:solidFill>
                      <a:schemeClr val="accent2">
                        <a:lumMod val="75000"/>
                      </a:schemeClr>
                    </a:solidFill>
                  </a:tcPr>
                </a:tc>
                <a:tc>
                  <a:txBody>
                    <a:bodyPr/>
                    <a:lstStyle/>
                    <a:p>
                      <a:pPr algn="l">
                        <a:buNone/>
                      </a:pPr>
                      <a:r>
                        <a:rPr lang="en-US" sz="1400">
                          <a:solidFill>
                            <a:srgbClr val="FFFFFF"/>
                          </a:solidFill>
                          <a:effectLst/>
                        </a:rPr>
                        <a:t>Before (.NET Framework 4.8)</a:t>
                      </a:r>
                    </a:p>
                  </a:txBody>
                  <a:tcPr marL="87729" marR="87729" marT="87729" marB="87729" anchor="ctr">
                    <a:lnL>
                      <a:noFill/>
                    </a:lnL>
                    <a:lnR>
                      <a:noFill/>
                    </a:lnR>
                    <a:lnT>
                      <a:noFill/>
                    </a:lnT>
                    <a:lnB>
                      <a:noFill/>
                    </a:lnB>
                    <a:solidFill>
                      <a:schemeClr val="accent2">
                        <a:lumMod val="75000"/>
                      </a:schemeClr>
                    </a:solidFill>
                  </a:tcPr>
                </a:tc>
                <a:tc>
                  <a:txBody>
                    <a:bodyPr/>
                    <a:lstStyle/>
                    <a:p>
                      <a:pPr algn="l">
                        <a:buNone/>
                      </a:pPr>
                      <a:r>
                        <a:rPr lang="en-US" sz="1400" dirty="0">
                          <a:solidFill>
                            <a:srgbClr val="FFFFFF"/>
                          </a:solidFill>
                          <a:effectLst/>
                        </a:rPr>
                        <a:t>After (.NET Core 8.0)</a:t>
                      </a:r>
                    </a:p>
                  </a:txBody>
                  <a:tcPr marL="87729" marR="87729" marT="87729" marB="87729" anchor="ctr">
                    <a:lnL>
                      <a:noFill/>
                    </a:lnL>
                    <a:lnR>
                      <a:noFill/>
                    </a:lnR>
                    <a:lnT>
                      <a:noFill/>
                    </a:lnT>
                    <a:lnB>
                      <a:noFill/>
                    </a:lnB>
                    <a:solidFill>
                      <a:schemeClr val="accent2">
                        <a:lumMod val="75000"/>
                      </a:schemeClr>
                    </a:solidFill>
                  </a:tcPr>
                </a:tc>
                <a:extLst>
                  <a:ext uri="{0D108BD9-81ED-4DB2-BD59-A6C34878D82A}">
                    <a16:rowId xmlns:a16="http://schemas.microsoft.com/office/drawing/2014/main" val="3558547843"/>
                  </a:ext>
                </a:extLst>
              </a:tr>
              <a:tr h="766989">
                <a:tc>
                  <a:txBody>
                    <a:bodyPr/>
                    <a:lstStyle/>
                    <a:p>
                      <a:pPr>
                        <a:buNone/>
                      </a:pPr>
                      <a:r>
                        <a:rPr lang="en-US" sz="1400" b="1">
                          <a:effectLst/>
                        </a:rPr>
                        <a:t>Platform</a:t>
                      </a:r>
                      <a:endParaRPr lang="en-US" sz="1400">
                        <a:effectLst/>
                      </a:endParaRPr>
                    </a:p>
                  </a:txBody>
                  <a:tcPr marL="87729" marR="87729" marT="87729" marB="87729" anchor="ctr">
                    <a:lnL>
                      <a:noFill/>
                    </a:lnL>
                    <a:lnR>
                      <a:noFill/>
                    </a:lnR>
                    <a:lnT>
                      <a:noFill/>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Windows Server Only</a:t>
                      </a:r>
                    </a:p>
                  </a:txBody>
                  <a:tcPr marL="87729" marR="87729" marT="87729" marB="87729" anchor="ctr">
                    <a:lnL>
                      <a:noFill/>
                    </a:lnL>
                    <a:lnR>
                      <a:noFill/>
                    </a:lnR>
                    <a:lnT>
                      <a:noFill/>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Cross-platform (Linux/Windows)</a:t>
                      </a:r>
                    </a:p>
                  </a:txBody>
                  <a:tcPr marL="87729" marR="87729" marT="87729" marB="87729" anchor="ctr">
                    <a:lnL>
                      <a:noFill/>
                    </a:lnL>
                    <a:lnR>
                      <a:noFill/>
                    </a:lnR>
                    <a:lnT>
                      <a:noFill/>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285169542"/>
                  </a:ext>
                </a:extLst>
              </a:tr>
              <a:tr h="766989">
                <a:tc>
                  <a:txBody>
                    <a:bodyPr/>
                    <a:lstStyle/>
                    <a:p>
                      <a:pPr>
                        <a:buNone/>
                      </a:pPr>
                      <a:r>
                        <a:rPr lang="en-US" sz="1400" b="1" dirty="0">
                          <a:effectLst/>
                        </a:rPr>
                        <a:t>UI Framework</a:t>
                      </a:r>
                      <a:endParaRPr lang="en-US" sz="1400" dirty="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a:effectLst/>
                        </a:rPr>
                        <a:t>Bootstrap + jQuery</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dirty="0">
                          <a:effectLst/>
                        </a:rPr>
                        <a:t>AngularJS + Material Design</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6509499"/>
                  </a:ext>
                </a:extLst>
              </a:tr>
              <a:tr h="766989">
                <a:tc>
                  <a:txBody>
                    <a:bodyPr/>
                    <a:lstStyle/>
                    <a:p>
                      <a:pPr>
                        <a:buNone/>
                      </a:pPr>
                      <a:r>
                        <a:rPr lang="en-US" sz="1400" b="1">
                          <a:effectLst/>
                        </a:rPr>
                        <a:t>Deployment</a:t>
                      </a:r>
                      <a:endParaRPr lang="en-US" sz="140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IIS (Manual)</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dirty="0">
                          <a:effectLst/>
                        </a:rPr>
                        <a:t>Docker Containers (Automated)</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777735908"/>
                  </a:ext>
                </a:extLst>
              </a:tr>
              <a:tr h="766989">
                <a:tc>
                  <a:txBody>
                    <a:bodyPr/>
                    <a:lstStyle/>
                    <a:p>
                      <a:pPr>
                        <a:buNone/>
                      </a:pPr>
                      <a:r>
                        <a:rPr lang="en-US" sz="1400" b="1">
                          <a:effectLst/>
                        </a:rPr>
                        <a:t>Scalability</a:t>
                      </a:r>
                      <a:endParaRPr lang="en-US" sz="140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dirty="0">
                          <a:effectLst/>
                        </a:rPr>
                        <a:t>Vertical (Limited)</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dirty="0">
                          <a:effectLst/>
                        </a:rPr>
                        <a:t>Horizontal (Kubernetes-ready)</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40297882"/>
                  </a:ext>
                </a:extLst>
              </a:tr>
              <a:tr h="499904">
                <a:tc>
                  <a:txBody>
                    <a:bodyPr/>
                    <a:lstStyle/>
                    <a:p>
                      <a:pPr>
                        <a:buNone/>
                      </a:pPr>
                      <a:r>
                        <a:rPr lang="en-US" sz="1400" b="1">
                          <a:effectLst/>
                        </a:rPr>
                        <a:t>Environment</a:t>
                      </a:r>
                      <a:endParaRPr lang="en-US" sz="140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HIGH Only</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Multiple Security Levels</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179585767"/>
                  </a:ext>
                </a:extLst>
              </a:tr>
              <a:tr h="766989">
                <a:tc>
                  <a:txBody>
                    <a:bodyPr/>
                    <a:lstStyle/>
                    <a:p>
                      <a:pPr>
                        <a:buNone/>
                      </a:pPr>
                      <a:r>
                        <a:rPr lang="en-US" sz="1400" b="1" dirty="0">
                          <a:effectLst/>
                        </a:rPr>
                        <a:t>CI/CD</a:t>
                      </a:r>
                      <a:endParaRPr lang="en-US" sz="1400" dirty="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dirty="0">
                          <a:effectLst/>
                        </a:rPr>
                        <a:t>Manual Deployment</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buNone/>
                      </a:pPr>
                      <a:r>
                        <a:rPr lang="en-US" sz="1400" dirty="0">
                          <a:effectLst/>
                        </a:rPr>
                        <a:t>GitLab Pipeline Automation</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75240361"/>
                  </a:ext>
                </a:extLst>
              </a:tr>
              <a:tr h="499904">
                <a:tc>
                  <a:txBody>
                    <a:bodyPr/>
                    <a:lstStyle/>
                    <a:p>
                      <a:pPr>
                        <a:buNone/>
                      </a:pPr>
                      <a:r>
                        <a:rPr lang="en-US" sz="1400" b="1">
                          <a:effectLst/>
                        </a:rPr>
                        <a:t>Infrastructure</a:t>
                      </a:r>
                      <a:endParaRPr lang="en-US" sz="1400">
                        <a:effectLst/>
                      </a:endParaRP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a:effectLst/>
                        </a:rPr>
                        <a:t>PITC Virtual Machines</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buNone/>
                      </a:pPr>
                      <a:r>
                        <a:rPr lang="en-US" sz="1400" dirty="0">
                          <a:effectLst/>
                        </a:rPr>
                        <a:t>Cloud-Native Options</a:t>
                      </a:r>
                    </a:p>
                  </a:txBody>
                  <a:tcPr marL="87729" marR="87729" marT="87729" marB="8772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759241165"/>
                  </a:ext>
                </a:extLst>
              </a:tr>
            </a:tbl>
          </a:graphicData>
        </a:graphic>
      </p:graphicFrame>
    </p:spTree>
    <p:extLst>
      <p:ext uri="{BB962C8B-B14F-4D97-AF65-F5344CB8AC3E}">
        <p14:creationId xmlns:p14="http://schemas.microsoft.com/office/powerpoint/2010/main" val="226164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Application Technology Stack</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44500" y="1681163"/>
            <a:ext cx="5157787" cy="4508500"/>
          </a:xfrm>
        </p:spPr>
        <p:txBody>
          <a:bodyPr/>
          <a:lstStyle/>
          <a:p>
            <a:pPr marL="342900" indent="-342900" algn="l">
              <a:lnSpc>
                <a:spcPct val="200000"/>
              </a:lnSpc>
              <a:buFont typeface="Arial" panose="020B0604020202020204" pitchFamily="34" charset="0"/>
              <a:buChar char="•"/>
            </a:pPr>
            <a:r>
              <a:rPr lang="en-US" dirty="0"/>
              <a:t>.NET Core 8.0  (ASP.NET Core API) </a:t>
            </a:r>
          </a:p>
          <a:p>
            <a:pPr marL="342900" indent="-342900" algn="l">
              <a:lnSpc>
                <a:spcPct val="200000"/>
              </a:lnSpc>
              <a:buFont typeface="Arial" panose="020B0604020202020204" pitchFamily="34" charset="0"/>
              <a:buChar char="•"/>
            </a:pPr>
            <a:r>
              <a:rPr lang="en-US" dirty="0"/>
              <a:t>AngularJS 1.8.2  (Material UI)</a:t>
            </a:r>
          </a:p>
          <a:p>
            <a:pPr marL="342900" indent="-342900" algn="l">
              <a:lnSpc>
                <a:spcPct val="200000"/>
              </a:lnSpc>
              <a:buFont typeface="Arial" panose="020B0604020202020204" pitchFamily="34" charset="0"/>
              <a:buChar char="•"/>
            </a:pPr>
            <a:r>
              <a:rPr lang="en-US" dirty="0" err="1"/>
              <a:t>OpenLDAP</a:t>
            </a:r>
            <a:r>
              <a:rPr lang="en-US" dirty="0"/>
              <a:t> (Directory Service) </a:t>
            </a:r>
          </a:p>
          <a:p>
            <a:pPr marL="342900" indent="-342900" algn="l">
              <a:lnSpc>
                <a:spcPct val="200000"/>
              </a:lnSpc>
              <a:buFont typeface="Arial" panose="020B0604020202020204" pitchFamily="34" charset="0"/>
              <a:buChar char="•"/>
            </a:pPr>
            <a:r>
              <a:rPr lang="en-US" dirty="0"/>
              <a:t>Docker (Docker Compose) </a:t>
            </a:r>
          </a:p>
          <a:p>
            <a:pPr marL="342900" indent="-342900" algn="l">
              <a:lnSpc>
                <a:spcPct val="200000"/>
              </a:lnSpc>
              <a:buFont typeface="Arial" panose="020B0604020202020204" pitchFamily="34" charset="0"/>
              <a:buChar char="•"/>
            </a:pPr>
            <a:r>
              <a:rPr lang="en-US" dirty="0"/>
              <a:t>Swagger/</a:t>
            </a:r>
            <a:r>
              <a:rPr lang="en-US" dirty="0" err="1"/>
              <a:t>OpenAPI</a:t>
            </a:r>
            <a:r>
              <a:rPr lang="en-US" dirty="0"/>
              <a:t> (Documentation) </a:t>
            </a:r>
          </a:p>
          <a:p>
            <a:pPr marL="342900" indent="-342900" algn="l">
              <a:lnSpc>
                <a:spcPct val="200000"/>
              </a:lnSpc>
              <a:buFont typeface="Arial" panose="020B0604020202020204" pitchFamily="34" charset="0"/>
              <a:buChar char="•"/>
            </a:pPr>
            <a:r>
              <a:rPr lang="en-US" dirty="0"/>
              <a:t>Node.js Express (Proxy Server) </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a:xfrm>
            <a:off x="6475412" y="1794933"/>
            <a:ext cx="5183188" cy="4394730"/>
          </a:xfrm>
        </p:spPr>
        <p:txBody>
          <a:bodyPr/>
          <a:lstStyle/>
          <a:p>
            <a:pPr marL="0" indent="0">
              <a:buNone/>
            </a:pPr>
            <a:r>
              <a:rPr lang="en-US" b="1" dirty="0"/>
              <a:t>Architecture Improvements</a:t>
            </a:r>
          </a:p>
          <a:p>
            <a:pPr lvl="1"/>
            <a:r>
              <a:rPr lang="en-US" dirty="0"/>
              <a:t>Microservices-ready containerized architecture</a:t>
            </a:r>
          </a:p>
          <a:p>
            <a:pPr lvl="1"/>
            <a:r>
              <a:rPr lang="en-US" dirty="0"/>
              <a:t>RESTful API with comprehensive Swagger documentation</a:t>
            </a:r>
          </a:p>
          <a:p>
            <a:pPr lvl="1"/>
            <a:r>
              <a:rPr lang="en-US" dirty="0"/>
              <a:t>Modern responsive UI with Material Design</a:t>
            </a:r>
          </a:p>
          <a:p>
            <a:pPr lvl="1"/>
            <a:r>
              <a:rPr lang="en-US" dirty="0"/>
              <a:t>LDAP integration with 300+ user directory</a:t>
            </a:r>
          </a:p>
          <a:p>
            <a:pPr lvl="1"/>
            <a:r>
              <a:rPr lang="en-US" dirty="0"/>
              <a:t>Production-ready Docker orchestration</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308C-3AAA-5849-D40C-AF9657D6484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0F9B86E-BEBF-E332-A57C-3DB5D2E3813D}"/>
              </a:ext>
            </a:extLst>
          </p:cNvPr>
          <p:cNvSpPr>
            <a:spLocks noGrp="1"/>
          </p:cNvSpPr>
          <p:nvPr>
            <p:ph type="title"/>
          </p:nvPr>
        </p:nvSpPr>
        <p:spPr/>
        <p:txBody>
          <a:bodyPr/>
          <a:lstStyle/>
          <a:p>
            <a:r>
              <a:rPr lang="en-US" dirty="0"/>
              <a:t>Current Architecture </a:t>
            </a:r>
          </a:p>
        </p:txBody>
      </p:sp>
      <p:sp>
        <p:nvSpPr>
          <p:cNvPr id="10" name="Text Placeholder 9">
            <a:extLst>
              <a:ext uri="{FF2B5EF4-FFF2-40B4-BE49-F238E27FC236}">
                <a16:creationId xmlns:a16="http://schemas.microsoft.com/office/drawing/2014/main" id="{BD41FE4C-EC35-85D8-175B-B59C0597B81E}"/>
              </a:ext>
            </a:extLst>
          </p:cNvPr>
          <p:cNvSpPr>
            <a:spLocks noGrp="1"/>
          </p:cNvSpPr>
          <p:nvPr>
            <p:ph type="body" sz="quarter" idx="13"/>
          </p:nvPr>
        </p:nvSpPr>
        <p:spPr>
          <a:xfrm>
            <a:off x="444500" y="1317870"/>
            <a:ext cx="5199944" cy="3003059"/>
          </a:xfrm>
        </p:spPr>
        <p:txBody>
          <a:bodyPr/>
          <a:lstStyle/>
          <a:p>
            <a:pPr marL="0" indent="0">
              <a:buNone/>
            </a:pPr>
            <a:r>
              <a:rPr lang="en-US" sz="2000" b="1" dirty="0"/>
              <a:t>Frontend Container</a:t>
            </a:r>
          </a:p>
          <a:p>
            <a:pPr lvl="1"/>
            <a:r>
              <a:rPr lang="en-US" sz="2000" dirty="0"/>
              <a:t>AngularJS + Material Design</a:t>
            </a:r>
          </a:p>
          <a:p>
            <a:pPr lvl="1"/>
            <a:r>
              <a:rPr lang="en-US" sz="2000" dirty="0"/>
              <a:t>Node.js Express proxy</a:t>
            </a:r>
          </a:p>
          <a:p>
            <a:pPr lvl="1"/>
            <a:r>
              <a:rPr lang="en-US" sz="2000" dirty="0"/>
              <a:t>Port 4200</a:t>
            </a:r>
          </a:p>
          <a:p>
            <a:pPr lvl="1"/>
            <a:r>
              <a:rPr lang="en-US" sz="2000" dirty="0"/>
              <a:t>Responsive UI</a:t>
            </a:r>
          </a:p>
        </p:txBody>
      </p:sp>
      <p:sp>
        <p:nvSpPr>
          <p:cNvPr id="3" name="Text Placeholder 9">
            <a:extLst>
              <a:ext uri="{FF2B5EF4-FFF2-40B4-BE49-F238E27FC236}">
                <a16:creationId xmlns:a16="http://schemas.microsoft.com/office/drawing/2014/main" id="{4F6E40A2-3746-74B3-7E4E-BBE194B29BCF}"/>
              </a:ext>
            </a:extLst>
          </p:cNvPr>
          <p:cNvSpPr txBox="1">
            <a:spLocks/>
          </p:cNvSpPr>
          <p:nvPr/>
        </p:nvSpPr>
        <p:spPr>
          <a:xfrm>
            <a:off x="6255456" y="131787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Frontend Container</a:t>
            </a:r>
          </a:p>
          <a:p>
            <a:pPr lvl="1"/>
            <a:r>
              <a:rPr lang="en-US" sz="2000" dirty="0"/>
              <a:t>AngularJS + Material Design</a:t>
            </a:r>
          </a:p>
          <a:p>
            <a:pPr lvl="1"/>
            <a:r>
              <a:rPr lang="en-US" sz="2000" dirty="0"/>
              <a:t>Node.js Express proxy</a:t>
            </a:r>
          </a:p>
          <a:p>
            <a:pPr lvl="1"/>
            <a:r>
              <a:rPr lang="en-US" sz="2000" dirty="0"/>
              <a:t>Port 4200</a:t>
            </a:r>
          </a:p>
          <a:p>
            <a:pPr lvl="1"/>
            <a:r>
              <a:rPr lang="en-US" sz="2000" dirty="0"/>
              <a:t>Responsive UI</a:t>
            </a:r>
          </a:p>
          <a:p>
            <a:pPr marL="457200" lvl="1" indent="0">
              <a:buNone/>
            </a:pPr>
            <a:endParaRPr lang="en-US" sz="2000" dirty="0"/>
          </a:p>
        </p:txBody>
      </p:sp>
      <p:sp>
        <p:nvSpPr>
          <p:cNvPr id="4" name="Text Placeholder 9">
            <a:extLst>
              <a:ext uri="{FF2B5EF4-FFF2-40B4-BE49-F238E27FC236}">
                <a16:creationId xmlns:a16="http://schemas.microsoft.com/office/drawing/2014/main" id="{2665E018-FD7F-96AE-0355-D59513113261}"/>
              </a:ext>
            </a:extLst>
          </p:cNvPr>
          <p:cNvSpPr txBox="1">
            <a:spLocks/>
          </p:cNvSpPr>
          <p:nvPr/>
        </p:nvSpPr>
        <p:spPr>
          <a:xfrm>
            <a:off x="348545" y="403860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Backend Container</a:t>
            </a:r>
          </a:p>
          <a:p>
            <a:pPr lvl="1"/>
            <a:r>
              <a:rPr lang="en-US" sz="2000" dirty="0"/>
              <a:t>.NET Core 8.0 API</a:t>
            </a:r>
          </a:p>
          <a:p>
            <a:pPr lvl="1"/>
            <a:r>
              <a:rPr lang="en-US" sz="2000" dirty="0"/>
              <a:t>RESTful endpoints</a:t>
            </a:r>
          </a:p>
          <a:p>
            <a:pPr lvl="1"/>
            <a:r>
              <a:rPr lang="en-US" sz="2000" dirty="0"/>
              <a:t>Port 5000</a:t>
            </a:r>
          </a:p>
          <a:p>
            <a:pPr lvl="1"/>
            <a:r>
              <a:rPr lang="en-US" sz="2000" dirty="0"/>
              <a:t>Swagger docs</a:t>
            </a:r>
          </a:p>
        </p:txBody>
      </p:sp>
      <p:sp>
        <p:nvSpPr>
          <p:cNvPr id="5" name="Text Placeholder 9">
            <a:extLst>
              <a:ext uri="{FF2B5EF4-FFF2-40B4-BE49-F238E27FC236}">
                <a16:creationId xmlns:a16="http://schemas.microsoft.com/office/drawing/2014/main" id="{A7C85292-694D-9E92-C9F7-9EBAB6601715}"/>
              </a:ext>
            </a:extLst>
          </p:cNvPr>
          <p:cNvSpPr txBox="1">
            <a:spLocks/>
          </p:cNvSpPr>
          <p:nvPr/>
        </p:nvSpPr>
        <p:spPr>
          <a:xfrm>
            <a:off x="6207478" y="3937000"/>
            <a:ext cx="5199944" cy="300305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Infrastructure</a:t>
            </a:r>
          </a:p>
          <a:p>
            <a:pPr lvl="1"/>
            <a:r>
              <a:rPr lang="en-US" sz="2000" dirty="0"/>
              <a:t>Docker networking</a:t>
            </a:r>
          </a:p>
          <a:p>
            <a:pPr lvl="1"/>
            <a:r>
              <a:rPr lang="en-US" sz="2000" dirty="0"/>
              <a:t>Health checks</a:t>
            </a:r>
          </a:p>
          <a:p>
            <a:pPr lvl="1"/>
            <a:r>
              <a:rPr lang="en-US" sz="2000" dirty="0"/>
              <a:t>Volume persistence</a:t>
            </a:r>
          </a:p>
          <a:p>
            <a:pPr lvl="1"/>
            <a:r>
              <a:rPr lang="en-US" sz="2000" dirty="0"/>
              <a:t>GitHub </a:t>
            </a:r>
            <a:r>
              <a:rPr lang="en-US" sz="2000" dirty="0" err="1"/>
              <a:t>Codespaces</a:t>
            </a:r>
            <a:r>
              <a:rPr lang="en-US" sz="2000" dirty="0"/>
              <a:t> ready</a:t>
            </a:r>
          </a:p>
        </p:txBody>
      </p:sp>
    </p:spTree>
    <p:extLst>
      <p:ext uri="{BB962C8B-B14F-4D97-AF65-F5344CB8AC3E}">
        <p14:creationId xmlns:p14="http://schemas.microsoft.com/office/powerpoint/2010/main" val="98677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2790B-428B-FF70-691A-5284F3C733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BD66A9D-AFA2-20B2-AB72-E13FCDFEFE70}"/>
              </a:ext>
            </a:extLst>
          </p:cNvPr>
          <p:cNvSpPr>
            <a:spLocks noGrp="1"/>
          </p:cNvSpPr>
          <p:nvPr>
            <p:ph type="title"/>
          </p:nvPr>
        </p:nvSpPr>
        <p:spPr/>
        <p:txBody>
          <a:bodyPr/>
          <a:lstStyle/>
          <a:p>
            <a:r>
              <a:rPr lang="en-US" dirty="0"/>
              <a:t>Current Development Status  </a:t>
            </a:r>
          </a:p>
        </p:txBody>
      </p:sp>
      <p:sp>
        <p:nvSpPr>
          <p:cNvPr id="2" name="Text Placeholder 9">
            <a:extLst>
              <a:ext uri="{FF2B5EF4-FFF2-40B4-BE49-F238E27FC236}">
                <a16:creationId xmlns:a16="http://schemas.microsoft.com/office/drawing/2014/main" id="{2D8B074E-43DC-FA95-2C4C-02F93C306AF3}"/>
              </a:ext>
            </a:extLst>
          </p:cNvPr>
          <p:cNvSpPr txBox="1">
            <a:spLocks/>
          </p:cNvSpPr>
          <p:nvPr/>
        </p:nvSpPr>
        <p:spPr>
          <a:xfrm>
            <a:off x="596900" y="1470270"/>
            <a:ext cx="11358034" cy="3753187"/>
          </a:xfrm>
          <a:prstGeom prst="rect">
            <a:avLst/>
          </a:prstGeom>
        </p:spPr>
        <p:txBody>
          <a:bodyPr vert="horz" lIns="91440" tIns="45720" rIns="91440" bIns="45720" numCol="2"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 LDAP Server</a:t>
            </a:r>
          </a:p>
          <a:p>
            <a:pPr lvl="1"/>
            <a:r>
              <a:rPr lang="en-US" dirty="0"/>
              <a:t>Running on port 389</a:t>
            </a:r>
          </a:p>
          <a:p>
            <a:pPr lvl="1"/>
            <a:r>
              <a:rPr lang="en-US" dirty="0"/>
              <a:t>300+ users loaded</a:t>
            </a:r>
          </a:p>
          <a:p>
            <a:pPr lvl="1"/>
            <a:r>
              <a:rPr lang="en-US" dirty="0"/>
              <a:t>Healthy &amp; stable</a:t>
            </a:r>
          </a:p>
          <a:p>
            <a:pPr lvl="1"/>
            <a:endParaRPr lang="en-US" dirty="0"/>
          </a:p>
          <a:p>
            <a:pPr marL="0" indent="0">
              <a:buNone/>
            </a:pPr>
            <a:r>
              <a:rPr lang="en-US" b="1" dirty="0"/>
              <a:t>✅ API Server</a:t>
            </a:r>
          </a:p>
          <a:p>
            <a:pPr lvl="1"/>
            <a:r>
              <a:rPr lang="en-US" dirty="0"/>
              <a:t>Running on port 5000</a:t>
            </a:r>
          </a:p>
          <a:p>
            <a:pPr lvl="1"/>
            <a:r>
              <a:rPr lang="en-US" dirty="0"/>
              <a:t>Swagger documentation</a:t>
            </a:r>
          </a:p>
          <a:p>
            <a:pPr lvl="1"/>
            <a:r>
              <a:rPr lang="en-US" dirty="0"/>
              <a:t>All endpoints working</a:t>
            </a:r>
          </a:p>
          <a:p>
            <a:pPr marL="457200" lvl="1" indent="0">
              <a:buNone/>
            </a:pPr>
            <a:endParaRPr lang="en-US" dirty="0"/>
          </a:p>
          <a:p>
            <a:pPr marL="0" indent="0">
              <a:buNone/>
            </a:pPr>
            <a:r>
              <a:rPr lang="en-US" b="1" dirty="0"/>
              <a:t>✅ Frontend</a:t>
            </a:r>
          </a:p>
          <a:p>
            <a:pPr lvl="1"/>
            <a:r>
              <a:rPr lang="en-US" dirty="0"/>
              <a:t>Running on port 4200</a:t>
            </a:r>
          </a:p>
          <a:p>
            <a:pPr lvl="1"/>
            <a:r>
              <a:rPr lang="en-US" dirty="0"/>
              <a:t>Proxy configured</a:t>
            </a:r>
          </a:p>
          <a:p>
            <a:pPr lvl="1"/>
            <a:r>
              <a:rPr lang="en-US" dirty="0"/>
              <a:t>Material UI responsive</a:t>
            </a:r>
          </a:p>
          <a:p>
            <a:pPr lvl="2"/>
            <a:endParaRPr lang="en-US" dirty="0"/>
          </a:p>
          <a:p>
            <a:pPr marL="0" indent="0">
              <a:buNone/>
            </a:pPr>
            <a:r>
              <a:rPr lang="en-US" b="1" dirty="0"/>
              <a:t>✅ Infrastructure</a:t>
            </a:r>
          </a:p>
          <a:p>
            <a:pPr lvl="1"/>
            <a:r>
              <a:rPr lang="en-US" dirty="0"/>
              <a:t>Docker Compose ready</a:t>
            </a:r>
          </a:p>
          <a:p>
            <a:pPr lvl="1"/>
            <a:r>
              <a:rPr lang="en-US" dirty="0"/>
              <a:t>Health checks passing</a:t>
            </a:r>
          </a:p>
          <a:p>
            <a:pPr lvl="1"/>
            <a:r>
              <a:rPr lang="en-US" dirty="0" err="1"/>
              <a:t>Codespaces</a:t>
            </a:r>
            <a:r>
              <a:rPr lang="en-US" dirty="0"/>
              <a:t> compatible</a:t>
            </a:r>
          </a:p>
          <a:p>
            <a:pPr lvl="1"/>
            <a:endParaRPr lang="en-US" dirty="0"/>
          </a:p>
        </p:txBody>
      </p:sp>
      <p:sp>
        <p:nvSpPr>
          <p:cNvPr id="6" name="Text Placeholder 9">
            <a:extLst>
              <a:ext uri="{FF2B5EF4-FFF2-40B4-BE49-F238E27FC236}">
                <a16:creationId xmlns:a16="http://schemas.microsoft.com/office/drawing/2014/main" id="{4C36E51E-2376-C820-4725-F335AE5CA7BA}"/>
              </a:ext>
            </a:extLst>
          </p:cNvPr>
          <p:cNvSpPr txBox="1">
            <a:spLocks/>
          </p:cNvSpPr>
          <p:nvPr/>
        </p:nvSpPr>
        <p:spPr>
          <a:xfrm>
            <a:off x="818444" y="5887132"/>
            <a:ext cx="10555111" cy="927345"/>
          </a:xfrm>
          <a:prstGeom prst="rect">
            <a:avLst/>
          </a:prstGeom>
        </p:spPr>
        <p:txBody>
          <a:bodyPr vert="horz" lIns="91440" tIns="45720" rIns="91440" bIns="45720" numCol="2"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800" dirty="0"/>
              <a:t>AngularJS + Material Design</a:t>
            </a:r>
          </a:p>
          <a:p>
            <a:pPr lvl="1"/>
            <a:r>
              <a:rPr lang="en-US" sz="1800" dirty="0"/>
              <a:t>Node.js Express proxy</a:t>
            </a:r>
          </a:p>
          <a:p>
            <a:pPr lvl="1"/>
            <a:r>
              <a:rPr lang="en-US" sz="1800" dirty="0"/>
              <a:t>Port 4200</a:t>
            </a:r>
          </a:p>
          <a:p>
            <a:pPr lvl="1"/>
            <a:r>
              <a:rPr lang="en-US" sz="1800" dirty="0"/>
              <a:t>Responsive UI</a:t>
            </a:r>
          </a:p>
        </p:txBody>
      </p:sp>
      <p:sp>
        <p:nvSpPr>
          <p:cNvPr id="11" name="Title 6">
            <a:extLst>
              <a:ext uri="{FF2B5EF4-FFF2-40B4-BE49-F238E27FC236}">
                <a16:creationId xmlns:a16="http://schemas.microsoft.com/office/drawing/2014/main" id="{3534324D-386E-EED0-BB2C-C106E6F6B432}"/>
              </a:ext>
            </a:extLst>
          </p:cNvPr>
          <p:cNvSpPr txBox="1">
            <a:spLocks/>
          </p:cNvSpPr>
          <p:nvPr/>
        </p:nvSpPr>
        <p:spPr>
          <a:xfrm>
            <a:off x="488949" y="5223458"/>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dirty="0"/>
              <a:t>Ready for Production Deployment</a:t>
            </a:r>
          </a:p>
        </p:txBody>
      </p:sp>
    </p:spTree>
    <p:extLst>
      <p:ext uri="{BB962C8B-B14F-4D97-AF65-F5344CB8AC3E}">
        <p14:creationId xmlns:p14="http://schemas.microsoft.com/office/powerpoint/2010/main" val="561369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EEAB-722D-A287-4FA9-01AFDDC59F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8C1D83-999D-FAFE-8B2D-65A0EF8FC754}"/>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3030489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Section Header02</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18</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1074</TotalTime>
  <Words>571</Words>
  <Application>Microsoft Office PowerPoint</Application>
  <PresentationFormat>Widescreen</PresentationFormat>
  <Paragraphs>155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Trade Gothic LT Pro</vt:lpstr>
      <vt:lpstr>Trebuchet MS</vt:lpstr>
      <vt:lpstr>Office Theme</vt:lpstr>
      <vt:lpstr>Photobook Project</vt:lpstr>
      <vt:lpstr>Agenda</vt:lpstr>
      <vt:lpstr>Why Migrate to .NET Core 8.0?</vt:lpstr>
      <vt:lpstr>Why Migrate to .NET Core 8.0?</vt:lpstr>
      <vt:lpstr>Application Technology Stack</vt:lpstr>
      <vt:lpstr>Current Architecture </vt:lpstr>
      <vt:lpstr>Current Development Status  </vt:lpstr>
      <vt:lpstr>PowerPoint Presentation</vt:lpstr>
      <vt:lpstr>Section Header02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Dai Luong</dc:creator>
  <cp:lastModifiedBy>Dai Luong</cp:lastModifiedBy>
  <cp:revision>1</cp:revision>
  <dcterms:created xsi:type="dcterms:W3CDTF">2025-12-14T03:59:29Z</dcterms:created>
  <dcterms:modified xsi:type="dcterms:W3CDTF">2025-12-14T21:54:02Z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